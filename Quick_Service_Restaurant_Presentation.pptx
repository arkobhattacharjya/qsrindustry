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20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15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7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2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38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3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22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4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988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70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24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818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352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559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80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5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7300-7F71-1834-00A4-61593CF0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160206"/>
            <a:ext cx="7285702" cy="4267200"/>
          </a:xfrm>
        </p:spPr>
        <p:txBody>
          <a:bodyPr>
            <a:normAutofit/>
          </a:bodyPr>
          <a:lstStyle/>
          <a:p>
            <a:r>
              <a:rPr lang="en-US" b="1" dirty="0"/>
              <a:t>Optimizing Operational Efficiency in the QSR Industry Through Data-Driven Insights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07D5A-055D-FA79-DDE2-2A8357540EF6}"/>
              </a:ext>
            </a:extLst>
          </p:cNvPr>
          <p:cNvSpPr txBox="1"/>
          <p:nvPr/>
        </p:nvSpPr>
        <p:spPr>
          <a:xfrm>
            <a:off x="6076335" y="4760960"/>
            <a:ext cx="496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-by Arko Bhattacharjya</a:t>
            </a:r>
          </a:p>
        </p:txBody>
      </p:sp>
    </p:spTree>
    <p:extLst>
      <p:ext uri="{BB962C8B-B14F-4D97-AF65-F5344CB8AC3E}">
        <p14:creationId xmlns:p14="http://schemas.microsoft.com/office/powerpoint/2010/main" val="24774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Bahnschrift SemiBold" panose="020B0502040204020203" pitchFamily="34" charset="0"/>
              </a:rPr>
              <a:t>QSR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Fast-food model: speed, efficiency, affordability</a:t>
            </a:r>
          </a:p>
          <a:p>
            <a:r>
              <a:t>Standardized menu &amp; high customer turnover</a:t>
            </a:r>
          </a:p>
          <a:p>
            <a:r>
              <a:t>Highly scalable &amp; profitable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Bahnschrift SemiBold" panose="020B0502040204020203" pitchFamily="34" charset="0"/>
              </a:rPr>
              <a:t>QSR Business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Franchise model</a:t>
            </a:r>
          </a:p>
          <a:p>
            <a:r>
              <a:t>Company-owned model</a:t>
            </a:r>
          </a:p>
          <a:p>
            <a:r>
              <a:t>Hybrid model</a:t>
            </a:r>
          </a:p>
          <a:p>
            <a:r>
              <a:t>Cloud kitchen</a:t>
            </a:r>
          </a:p>
          <a:p>
            <a:r>
              <a:t>Aggregator-driven</a:t>
            </a:r>
          </a:p>
          <a:p>
            <a:r>
              <a:t>Combo pricing &amp; loyalty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Role of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apps &amp; digital ordering</a:t>
            </a:r>
          </a:p>
          <a:p>
            <a:r>
              <a:t>Delivery platforms (Zomato, Swiggy)</a:t>
            </a:r>
          </a:p>
          <a:p>
            <a:r>
              <a:t>Data analytics for demand &amp; pricing</a:t>
            </a:r>
          </a:p>
          <a:p>
            <a:r>
              <a:t>Improved customer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Maintaining food quality</a:t>
            </a:r>
          </a:p>
          <a:p>
            <a:r>
              <a:t>Inventory management</a:t>
            </a:r>
          </a:p>
          <a:p>
            <a:r>
              <a:t>Delivery delays</a:t>
            </a:r>
          </a:p>
          <a:p>
            <a:r>
              <a:t>Demand fluctuations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Franchise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 owner: menu, pricing, branding, tech</a:t>
            </a:r>
          </a:p>
          <a:p>
            <a:r>
              <a:t>Franchise partner: operations, staff,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Key Operational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management</a:t>
            </a:r>
          </a:p>
          <a:p>
            <a:r>
              <a:t>Food preparation</a:t>
            </a:r>
          </a:p>
          <a:p>
            <a:r>
              <a:t>Inventory management</a:t>
            </a:r>
          </a:p>
          <a:p>
            <a:r>
              <a:t>Delivery operations</a:t>
            </a:r>
          </a:p>
          <a:p>
            <a:r>
              <a:t>Customer experience</a:t>
            </a:r>
          </a:p>
          <a:p>
            <a:r>
              <a:t>Staffing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tables: Customers, Store, Menu, Orders</a:t>
            </a:r>
          </a:p>
          <a:p>
            <a:r>
              <a:t>Order_Items, Delivery, Payments, Inventory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trends over time</a:t>
            </a:r>
          </a:p>
          <a:p>
            <a:r>
              <a:t>Peak hours &amp; demand patterns</a:t>
            </a:r>
          </a:p>
          <a:p>
            <a:r>
              <a:t>Helps forecasting &amp; planning</a:t>
            </a:r>
          </a:p>
        </p:txBody>
      </p:sp>
      <p:pic>
        <p:nvPicPr>
          <p:cNvPr id="4" name="Picture 3" descr="sales_real.png">
            <a:extLst>
              <a:ext uri="{FF2B5EF4-FFF2-40B4-BE49-F238E27FC236}">
                <a16:creationId xmlns:a16="http://schemas.microsoft.com/office/drawing/2014/main" id="{FCB7A610-3F63-B655-D6D9-6FAE8CF56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9" y="1988022"/>
            <a:ext cx="3067665" cy="23007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Menu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vs low performing items</a:t>
            </a:r>
          </a:p>
          <a:p>
            <a:r>
              <a:t>80-20 Pareto principle</a:t>
            </a:r>
          </a:p>
          <a:p>
            <a:r>
              <a:t>Optimize menu &amp; combos</a:t>
            </a:r>
          </a:p>
        </p:txBody>
      </p:sp>
      <p:pic>
        <p:nvPicPr>
          <p:cNvPr id="4" name="Picture 3" descr="pareto_real.png">
            <a:extLst>
              <a:ext uri="{FF2B5EF4-FFF2-40B4-BE49-F238E27FC236}">
                <a16:creationId xmlns:a16="http://schemas.microsoft.com/office/drawing/2014/main" id="{88384A4D-81BF-3891-8E8D-430855C3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368" y="2092906"/>
            <a:ext cx="2956232" cy="2217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Delivery &amp; Peak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Delays during peak time</a:t>
            </a:r>
          </a:p>
          <a:p>
            <a:r>
              <a:t>Lunch &amp; dinner highest demand</a:t>
            </a:r>
          </a:p>
          <a:p>
            <a:r>
              <a:t>Need better staffing</a:t>
            </a:r>
          </a:p>
        </p:txBody>
      </p:sp>
      <p:pic>
        <p:nvPicPr>
          <p:cNvPr id="4" name="Picture 3" descr="peak_real.png">
            <a:extLst>
              <a:ext uri="{FF2B5EF4-FFF2-40B4-BE49-F238E27FC236}">
                <a16:creationId xmlns:a16="http://schemas.microsoft.com/office/drawing/2014/main" id="{35D49B42-3402-401B-7E41-B039B207C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567" y="2090447"/>
            <a:ext cx="2841522" cy="21311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High-value customers drive revenue</a:t>
            </a:r>
          </a:p>
          <a:p>
            <a:r>
              <a:t>Retention is low</a:t>
            </a:r>
          </a:p>
          <a:p>
            <a:r>
              <a:t>Need loyalty programs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F6DD6-7AA5-E50F-7418-4A34E9A0C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168" y="4031691"/>
            <a:ext cx="3578942" cy="22368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Bahnschrift SemiBold" panose="020B0502040204020203" pitchFamily="34" charset="0"/>
              </a:rPr>
              <a:t>Payment &amp; Store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UPI/cards dominate</a:t>
            </a:r>
          </a:p>
          <a:p>
            <a:r>
              <a:t>Store-wise performance varies</a:t>
            </a:r>
          </a:p>
          <a:p>
            <a:r>
              <a:t>Optimize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8A65A-6D04-5247-1914-3CA2DD1F1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768" y="2113935"/>
            <a:ext cx="3165994" cy="19787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Inventory &amp; Order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imbalance issues</a:t>
            </a:r>
          </a:p>
          <a:p>
            <a:r>
              <a:t>Opportunity to increase AOV</a:t>
            </a:r>
          </a:p>
          <a:p>
            <a:r>
              <a:t>Use combos &amp; upselling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3162B-362B-2282-D0A4-F67D34AB5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21" y="2067347"/>
            <a:ext cx="3004559" cy="18778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Final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Demand is Time-Clustered, Not Uniform</a:t>
            </a:r>
          </a:p>
          <a:p>
            <a:r>
              <a:rPr dirty="0"/>
              <a:t>Menu not equally efficient</a:t>
            </a:r>
          </a:p>
          <a:p>
            <a:r>
              <a:rPr dirty="0"/>
              <a:t>Operational bottlenecks exist</a:t>
            </a:r>
            <a:r>
              <a:rPr lang="en-IN" dirty="0"/>
              <a:t> due to delivery</a:t>
            </a:r>
          </a:p>
          <a:p>
            <a:r>
              <a:rPr lang="en-US" dirty="0"/>
              <a:t>Revenue is Driven by Few Menu Items (Pareto Effect)</a:t>
            </a:r>
          </a:p>
          <a:p>
            <a:r>
              <a:rPr lang="en-IN" dirty="0"/>
              <a:t>Inventory Planning is Inefficient</a:t>
            </a:r>
            <a:endParaRPr lang="en-US" dirty="0"/>
          </a:p>
          <a:p>
            <a:r>
              <a:rPr lang="en-US" dirty="0"/>
              <a:t>Digital Payments Dominate Customer Preference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decisions improve efficiency</a:t>
            </a:r>
          </a:p>
          <a:p>
            <a:r>
              <a:t>Enhances customer experience</a:t>
            </a:r>
          </a:p>
          <a:p>
            <a:r>
              <a:t>Ensures long-term growth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276</Words>
  <Application>Microsoft Office PowerPoint</Application>
  <PresentationFormat>On-screen Show (4:3)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Bahnschrift SemiBold</vt:lpstr>
      <vt:lpstr>Garamond</vt:lpstr>
      <vt:lpstr>Organic</vt:lpstr>
      <vt:lpstr>Optimizing Operational Efficiency in the QSR Industry Through Data-Driven Insights</vt:lpstr>
      <vt:lpstr>QSR Industry Overview</vt:lpstr>
      <vt:lpstr>QSR Business Models</vt:lpstr>
      <vt:lpstr>Role of Technology</vt:lpstr>
      <vt:lpstr>Key Challenges</vt:lpstr>
      <vt:lpstr>Franchise Operations</vt:lpstr>
      <vt:lpstr>Key Operational Activities</vt:lpstr>
      <vt:lpstr>Database Design</vt:lpstr>
      <vt:lpstr>Sales Analysis</vt:lpstr>
      <vt:lpstr>Menu Analysis</vt:lpstr>
      <vt:lpstr>Delivery &amp; Peak Hours</vt:lpstr>
      <vt:lpstr>Customer Insights</vt:lpstr>
      <vt:lpstr>Payment &amp; Store Performance</vt:lpstr>
      <vt:lpstr>Inventory &amp; Order Value</vt:lpstr>
      <vt:lpstr>Final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arko bhattacharjya</cp:lastModifiedBy>
  <cp:revision>3</cp:revision>
  <dcterms:created xsi:type="dcterms:W3CDTF">2013-01-27T09:14:16Z</dcterms:created>
  <dcterms:modified xsi:type="dcterms:W3CDTF">2026-04-02T19:54:05Z</dcterms:modified>
  <cp:category/>
</cp:coreProperties>
</file>